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EFF16355-E633-1030-2325-0D7BD39DB9F0}">
          <p14:sldIdLst>
            <p14:sldId id="256"/>
            <p14:sldId id="257"/>
          </p14:sldIdLst>
        </p14:section>
        <p14:section name="기획 배경" id="{22261FD9-4C6A-1241-304F-8D4BFAFF6EE7}">
          <p14:sldIdLst>
            <p14:sldId id="258"/>
            <p14:sldId id="259"/>
            <p14:sldId id="260"/>
            <p14:sldId id="261"/>
            <p14:sldId id="262"/>
          </p14:sldIdLst>
        </p14:section>
        <p14:section name="콘텐츠 구조" id="{F419BFCB-6271-E0A6-454F-8AE887112E2C}">
          <p14:sldIdLst>
            <p14:sldId id="263"/>
            <p14:sldId id="264"/>
          </p14:sldIdLst>
        </p14:section>
        <p14:section name="주요 화면" id="{8F2A107F-310E-CBF4-0DB0-EF0F1F85A93A}">
          <p14:sldIdLst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지킨 원칙 · 제작" id="{4F3673F0-92F7-142B-C8AE-F735F0C67FC4}">
          <p14:sldIdLst>
            <p14:sldId id="271"/>
            <p14:sldId id="272"/>
          </p14:sldIdLst>
        </p14:section>
        <p14:section name="기술과 구현" id="{5112E0D7-81EE-6293-20E4-3BCA05B61EF8}">
          <p14:sldIdLst>
            <p14:sldId id="273"/>
            <p14:sldId id="274"/>
            <p14:sldId id="275"/>
          </p14:sldIdLst>
        </p14:section>
        <p14:section name="피드백 · 결과" id="{47D82F82-262E-BCFE-AEC2-2682A9E874F1}">
          <p14:sldIdLst>
            <p14:sldId id="276"/>
            <p14:sldId id="277"/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47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03838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심묘한 산책은 경성야록 광고면의 수배 고양이 「심묘」를 주인공으로 한 스핀오프입니다. 기획부터 그림 디렉션, 디자인, 개발까지 혼자 진행했습니다.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EBE2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754880"/>
            <a:ext cx="306766" cy="1828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118" y="47731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7B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심묘한 산책  ·  경성야록 스핀오프</a:t>
            </a:r>
            <a:endParaRPr lang="en-US" sz="9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457200" y="274320"/>
            <a:ext cx="8229600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900" b="1" kern="0" spc="200" dirty="0">
                <a:solidFill>
                  <a:srgbClr val="A84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defRPr>
            </a:lvl1pPr>
          </a:lstStyle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5" name="Text 1"/>
          <p:cNvSpPr>
            <a:spLocks noGrp="1"/>
          </p:cNvSpPr>
          <p:nvPr>
            <p:ph type="title" idx="103" hasCustomPrompt="1"/>
          </p:nvPr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400" b="1" dirty="0">
                <a:solidFill>
                  <a:srgbClr val="211C17"/>
                </a:solidFill>
                <a:latin typeface="Batang" pitchFamily="34" charset="0"/>
                <a:ea typeface="Batang" pitchFamily="34" charset="-122"/>
                <a:cs typeface="Batang" pitchFamily="34" charset="-120"/>
              </a:defRPr>
            </a:lvl1pPr>
          </a:lstStyle>
          <a:p>
            <a:pPr marL="0" indent="0" algn="l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7B6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211C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731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7B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심묘한 산책  ·  경성야록 스핀오프</a:t>
            </a:r>
            <a:endParaRPr lang="en-US" sz="900" dirty="0"/>
          </a:p>
        </p:txBody>
      </p:sp>
      <p:sp>
        <p:nvSpPr>
          <p:cNvPr id="3" name="Text 1"/>
          <p:cNvSpPr>
            <a:spLocks noGrp="1"/>
          </p:cNvSpPr>
          <p:nvPr>
            <p:ph type="body" idx="101" hasCustomPrompt="1"/>
          </p:nvPr>
        </p:nvSpPr>
        <p:spPr>
          <a:xfrm>
            <a:off x="457200" y="274320"/>
            <a:ext cx="8229600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900" b="1" kern="0" spc="200" dirty="0">
                <a:solidFill>
                  <a:srgbClr val="D99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defRPr>
            </a:lvl1pPr>
          </a:lstStyle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4" name="Text 1"/>
          <p:cNvSpPr>
            <a:spLocks noGrp="1"/>
          </p:cNvSpPr>
          <p:nvPr>
            <p:ph type="title" idx="102" hasCustomPrompt="1"/>
          </p:nvPr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400" b="1" dirty="0">
                <a:solidFill>
                  <a:srgbClr val="F6F0E1"/>
                </a:solidFill>
                <a:latin typeface="Batang" pitchFamily="34" charset="0"/>
                <a:ea typeface="Batang" pitchFamily="34" charset="-122"/>
                <a:cs typeface="Batang" pitchFamily="34" charset="-120"/>
              </a:defRPr>
            </a:lvl1pPr>
          </a:lstStyle>
          <a:p>
            <a:pPr marL="0" indent="0" algn="l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7B6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11C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7B6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3" Type="http://schemas.openxmlformats.org/officeDocument/2006/relationships/image" Target="../media/image9.jpeg"/><Relationship Id="rId7" Type="http://schemas.openxmlformats.org/officeDocument/2006/relationships/image" Target="../media/image1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jpeg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1.jpeg"/><Relationship Id="rId4" Type="http://schemas.openxmlformats.org/officeDocument/2006/relationships/image" Target="../media/image20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jpe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jpeg"/><Relationship Id="rId3" Type="http://schemas.openxmlformats.org/officeDocument/2006/relationships/image" Target="../media/image26.jpeg"/><Relationship Id="rId7" Type="http://schemas.openxmlformats.org/officeDocument/2006/relationships/image" Target="../media/image30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jpeg"/><Relationship Id="rId5" Type="http://schemas.openxmlformats.org/officeDocument/2006/relationships/image" Target="../media/image28.jpeg"/><Relationship Id="rId10" Type="http://schemas.openxmlformats.org/officeDocument/2006/relationships/image" Target="../media/image33.jpeg"/><Relationship Id="rId4" Type="http://schemas.openxmlformats.org/officeDocument/2006/relationships/image" Target="../media/image27.jpeg"/><Relationship Id="rId9" Type="http://schemas.openxmlformats.org/officeDocument/2006/relationships/image" Target="../media/image3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8.jpeg"/><Relationship Id="rId4" Type="http://schemas.openxmlformats.org/officeDocument/2006/relationships/image" Target="../media/image37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11" Type="http://schemas.openxmlformats.org/officeDocument/2006/relationships/image" Target="../media/image47.png"/><Relationship Id="rId5" Type="http://schemas.openxmlformats.org/officeDocument/2006/relationships/image" Target="../media/image41.png"/><Relationship Id="rId10" Type="http://schemas.openxmlformats.org/officeDocument/2006/relationships/image" Target="../media/image46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7" Type="http://schemas.openxmlformats.org/officeDocument/2006/relationships/image" Target="../media/image52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jpeg"/><Relationship Id="rId5" Type="http://schemas.openxmlformats.org/officeDocument/2006/relationships/image" Target="../media/image50.jpeg"/><Relationship Id="rId4" Type="http://schemas.openxmlformats.org/officeDocument/2006/relationships/image" Target="../media/image49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0"/>
            <a:ext cx="493776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06240" y="0"/>
            <a:ext cx="18288" cy="5143500"/>
          </a:xfrm>
          <a:prstGeom prst="rect">
            <a:avLst/>
          </a:prstGeom>
          <a:solidFill>
            <a:srgbClr val="211C17"/>
          </a:solidFill>
          <a:ln w="12700">
            <a:solidFill>
              <a:srgbClr val="211C17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48640" y="9601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 err="1">
                <a:solidFill>
                  <a:srgbClr val="D99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경성야록</a:t>
            </a:r>
            <a:r>
              <a:rPr lang="en-US" sz="1000" b="1" kern="0" spc="200" dirty="0">
                <a:solidFill>
                  <a:srgbClr val="D99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000" b="1" kern="0" spc="200" dirty="0" err="1">
                <a:solidFill>
                  <a:srgbClr val="D99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스핀오프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6F0E1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심묘한 산책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28600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BE2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수배 고양이 「심묘」와 함께 걷는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BE2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1930년대 경성의 하루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3434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7B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· 아트 디렉션 · 디자인 · 개발   김소이</a:t>
            </a:r>
            <a:endParaRPr lang="en-US" sz="10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3977640"/>
            <a:ext cx="1442232" cy="868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2" hasCustomPrompt="1"/>
          </p:nvPr>
        </p:nvSpPr>
        <p:spPr>
          <a:xfrm>
            <a:off x="45720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A84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SIMMYO WALK  ·  FINAL PRESENTATION</a:t>
            </a:r>
            <a:endParaRPr lang="en-US" sz="900" dirty="0"/>
          </a:p>
        </p:txBody>
      </p:sp>
      <p:sp>
        <p:nvSpPr>
          <p:cNvPr id="3" name="Text 1"/>
          <p:cNvSpPr>
            <a:spLocks noGrp="1"/>
          </p:cNvSpPr>
          <p:nvPr>
            <p:ph type="title" idx="103" hasCustomPrompt="1"/>
          </p:nvPr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11C17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목차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4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1280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배경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291840" y="1280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4F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수배 고양이에서 시작한 이야기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5212080" cy="9144"/>
          </a:xfrm>
          <a:prstGeom prst="rect">
            <a:avLst/>
          </a:prstGeom>
          <a:solidFill>
            <a:srgbClr val="C3B394"/>
          </a:solidFill>
          <a:ln w="12700">
            <a:solidFill>
              <a:srgbClr val="C3B39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8288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4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1828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콘텐츠 구조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291840" y="1828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4F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개의 축과 사이트 흐름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286000"/>
            <a:ext cx="5212080" cy="9144"/>
          </a:xfrm>
          <a:prstGeom prst="rect">
            <a:avLst/>
          </a:prstGeom>
          <a:solidFill>
            <a:srgbClr val="C3B394"/>
          </a:solidFill>
          <a:ln w="12700">
            <a:solidFill>
              <a:srgbClr val="C3B39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3774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4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23774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화면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291840" y="23774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4F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오프닝 · ㄱ자 산책길 · 골목 · 엔딩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834640"/>
            <a:ext cx="5212080" cy="9144"/>
          </a:xfrm>
          <a:prstGeom prst="rect">
            <a:avLst/>
          </a:prstGeom>
          <a:solidFill>
            <a:srgbClr val="C3B394"/>
          </a:solidFill>
          <a:ln w="12700">
            <a:solidFill>
              <a:srgbClr val="C3B39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29260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4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960120" y="2926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지킨 원칙 · 그림 제작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291840" y="2926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4F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고증과 캐릭터 고정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383280"/>
            <a:ext cx="5212080" cy="9144"/>
          </a:xfrm>
          <a:prstGeom prst="rect">
            <a:avLst/>
          </a:prstGeom>
          <a:solidFill>
            <a:srgbClr val="C3B394"/>
          </a:solidFill>
          <a:ln w="12700">
            <a:solidFill>
              <a:srgbClr val="C3B39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" y="34747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4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960120" y="3474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기술과 구현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3291840" y="3474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4F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쓴 기술과 문제 해결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931920"/>
            <a:ext cx="5212080" cy="9144"/>
          </a:xfrm>
          <a:prstGeom prst="rect">
            <a:avLst/>
          </a:prstGeom>
          <a:solidFill>
            <a:srgbClr val="C3B394"/>
          </a:solidFill>
          <a:ln w="12700">
            <a:solidFill>
              <a:srgbClr val="C3B39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7200" y="40233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4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960120" y="40233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피드백 · 결과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3291840" y="40233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4F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반영한 것과 앞으로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4480560"/>
            <a:ext cx="5212080" cy="9144"/>
          </a:xfrm>
          <a:prstGeom prst="rect">
            <a:avLst/>
          </a:prstGeom>
          <a:solidFill>
            <a:srgbClr val="C3B394"/>
          </a:solidFill>
          <a:ln w="12700">
            <a:solidFill>
              <a:srgbClr val="C3B394"/>
            </a:solidFill>
            <a:prstDash val="solid"/>
          </a:ln>
        </p:spPr>
      </p:sp>
      <p:pic>
        <p:nvPicPr>
          <p:cNvPr id="2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240000">
            <a:off x="6172200" y="1143000"/>
            <a:ext cx="2377440" cy="2587752"/>
          </a:xfrm>
          <a:prstGeom prst="rect">
            <a:avLst/>
          </a:prstGeom>
          <a:effectLst>
            <a:outerShdw blurRad="76200" dist="25400" dir="5400000" algn="bl" rotWithShape="0">
              <a:srgbClr val="211C17">
                <a:alpha val="25000"/>
              </a:srgbClr>
            </a:outerShdw>
          </a:effectLst>
        </p:spPr>
      </p:pic>
      <p:sp>
        <p:nvSpPr>
          <p:cNvPr id="29" name="Text 26"/>
          <p:cNvSpPr txBox="1"/>
          <p:nvPr/>
        </p:nvSpPr>
        <p:spPr>
          <a:xfrm>
            <a:off x="6172200" y="397764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4F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오프닝 호외 속 심묘 수배 사진</a:t>
            </a:r>
            <a:endParaRPr lang="en-US" sz="10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7B6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45720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D99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 기획 배경</a:t>
            </a:r>
            <a:endParaRPr lang="en-US" sz="9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6F0E1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시작은 광고면 구석의 고양이 한 마리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2588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6F0E1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“ 이 고양이는</a:t>
            </a:r>
            <a:endParaRPr lang="en-US" sz="2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6F0E1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어디로 갔을까 ? ”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697480"/>
            <a:ext cx="4206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BE2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경성야록 「사람을 찾음」 심인 광고 칸에는 사람 대신 수배 고양이 한 마리가 실려 있었습니다. 팀 프로젝트를 만들며 가장 마음이 갔던 이 고양이를 주인공으로, 혼자 스핀오프를 기획했습니다.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600" dirty="0">
                <a:solidFill>
                  <a:srgbClr val="EBE2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99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경성야록이 신문 속 「사건」을 따라간다면, 심묘한 산책은 같은 시절 경성 사람들의 「보통날」을 고양이 눈높이로 걷습니다.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1143000"/>
            <a:ext cx="3017520" cy="32004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257800" y="443484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7B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오프닝 호외 「□양이를 찾습니다」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7B6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2" hasCustomPrompt="1"/>
          </p:nvPr>
        </p:nvSpPr>
        <p:spPr>
          <a:xfrm>
            <a:off x="45720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A84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 기획 배경</a:t>
            </a:r>
            <a:endParaRPr lang="en-US" sz="900" dirty="0"/>
          </a:p>
        </p:txBody>
      </p:sp>
      <p:sp>
        <p:nvSpPr>
          <p:cNvPr id="3" name="Text 1"/>
          <p:cNvSpPr>
            <a:spLocks noGrp="1"/>
          </p:cNvSpPr>
          <p:nvPr>
            <p:ph type="title" idx="103" hasCustomPrompt="1"/>
          </p:nvPr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11C17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왜 고양이의 눈높이인가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657600" cy="1051560"/>
          </a:xfrm>
          <a:prstGeom prst="roundRect">
            <a:avLst>
              <a:gd name="adj" fmla="val 6957"/>
            </a:avLst>
          </a:prstGeom>
          <a:solidFill>
            <a:srgbClr val="E3D8BF"/>
          </a:solidFill>
          <a:ln w="12700">
            <a:solidFill>
              <a:srgbClr val="E3D8B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4416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5B4F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경성야록 본편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0020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쓴 지면 속 「사건」을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기사와 장치로 다시 읽기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160520" y="1508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A84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754880" y="1234440"/>
            <a:ext cx="3931920" cy="1051560"/>
          </a:xfrm>
          <a:prstGeom prst="roundRect">
            <a:avLst>
              <a:gd name="adj" fmla="val 6957"/>
            </a:avLst>
          </a:prstGeom>
          <a:solidFill>
            <a:srgbClr val="211C17"/>
          </a:solidFill>
          <a:ln w="12700">
            <a:solidFill>
              <a:srgbClr val="211C1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37760" y="134416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D99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심묘한 산책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16002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6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지면 밖 경성 사람들의 「일상」을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6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글을 모르는 고양이와 걷기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26060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A84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차별점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926080"/>
            <a:ext cx="2606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안내자가 사람이 아니라 고양이입니다. 설명 대신 눈높이 · 소리 · 냄새로 도시를 보고, 사실은 옆 칸에서 쉬운 말로 짚습니다.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246120" y="26060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A84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타깃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246120" y="2926080"/>
            <a:ext cx="2606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경성야록 독자, 귀여운 캐릭터와 일러스트를 좋아하는 젊은 층, 휴대폰으로 짧게 즐기는 사람.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035040" y="26060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A84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원소스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035040" y="2926080"/>
            <a:ext cx="2606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1899년 전차부터 1930년대 다방까지, 옛 신문 · 사진엽서 · 국가기록원 자료로 확인한 경성의 장소와 일상.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7B6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2" hasCustomPrompt="1"/>
          </p:nvPr>
        </p:nvSpPr>
        <p:spPr>
          <a:xfrm>
            <a:off x="45720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A84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 기획 배경</a:t>
            </a:r>
            <a:endParaRPr lang="en-US" sz="900" dirty="0"/>
          </a:p>
        </p:txBody>
      </p:sp>
      <p:sp>
        <p:nvSpPr>
          <p:cNvPr id="3" name="Text 1"/>
          <p:cNvSpPr>
            <a:spLocks noGrp="1"/>
          </p:cNvSpPr>
          <p:nvPr>
            <p:ph type="title" idx="103" hasCustomPrompt="1"/>
          </p:nvPr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11C17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심묘 한 마리로 세 가지를 보여 주기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6F0E1"/>
          </a:solidFill>
          <a:ln w="12700">
            <a:solidFill>
              <a:srgbClr val="F6F0E1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371600"/>
            <a:ext cx="2331720" cy="14630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4360" y="2999232"/>
            <a:ext cx="310896" cy="310896"/>
          </a:xfrm>
          <a:prstGeom prst="ellipse">
            <a:avLst/>
          </a:prstGeom>
          <a:solidFill>
            <a:srgbClr val="A8402C"/>
          </a:solidFill>
          <a:ln w="12700">
            <a:solidFill>
              <a:srgbClr val="A8402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29992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987552" y="2980944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심묘의 시선으로 보는 경성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3456432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B4F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고양이 눈높이 · 고양이 색감으로 다시 그린 장소. 그림 속 숨은 이야기를 찾습니다.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46120" y="123444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6F0E1"/>
          </a:solidFill>
          <a:ln w="12700">
            <a:solidFill>
              <a:srgbClr val="F6F0E1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1371600"/>
            <a:ext cx="2331720" cy="14630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383280" y="2999232"/>
            <a:ext cx="310896" cy="310896"/>
          </a:xfrm>
          <a:prstGeom prst="ellipse">
            <a:avLst/>
          </a:prstGeom>
          <a:solidFill>
            <a:srgbClr val="A8402C"/>
          </a:solidFill>
          <a:ln w="12700">
            <a:solidFill>
              <a:srgbClr val="A8402C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3383280" y="29992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3776472" y="2980944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심묘의 이야기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3383280" y="3456432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B4F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ㄱ 활자를 물고 달아난 고양이의 하루. 신문 연재만화로 회마다 이어집니다.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035040" y="123444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6F0E1"/>
          </a:solidFill>
          <a:ln w="12700">
            <a:solidFill>
              <a:srgbClr val="F6F0E1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1371600"/>
            <a:ext cx="2331720" cy="146304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6172200" y="2999232"/>
            <a:ext cx="310896" cy="310896"/>
          </a:xfrm>
          <a:prstGeom prst="ellipse">
            <a:avLst/>
          </a:prstGeom>
          <a:solidFill>
            <a:srgbClr val="A8402C"/>
          </a:solidFill>
          <a:ln w="12700">
            <a:solidFill>
              <a:srgbClr val="A8402C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6172200" y="29992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6565392" y="2980944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사람들이 보는 심묘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6172200" y="3456432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B4F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옛 사진과 지면 속에 컬러 심묘가 숨어 있습니다. 사람의 기록은 흑백 그대로.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7B6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2" hasCustomPrompt="1"/>
          </p:nvPr>
        </p:nvSpPr>
        <p:spPr>
          <a:xfrm>
            <a:off x="45720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A84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 기획 배경  ·  기획 과정</a:t>
            </a:r>
            <a:endParaRPr lang="en-US" sz="900" dirty="0"/>
          </a:p>
        </p:txBody>
      </p:sp>
      <p:sp>
        <p:nvSpPr>
          <p:cNvPr id="3" name="Text 1"/>
          <p:cNvSpPr>
            <a:spLocks noGrp="1"/>
          </p:cNvSpPr>
          <p:nvPr>
            <p:ph type="title" idx="103" hasCustomPrompt="1"/>
          </p:nvPr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11C17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엿새 동안 기획을 세 번 다시 썼습니다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7863840" cy="18288"/>
          </a:xfrm>
          <a:prstGeom prst="rect">
            <a:avLst/>
          </a:prstGeom>
          <a:solidFill>
            <a:srgbClr val="A8402C"/>
          </a:solidFill>
          <a:ln w="12700">
            <a:solidFill>
              <a:srgbClr val="A8402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719072"/>
            <a:ext cx="237744" cy="237744"/>
          </a:xfrm>
          <a:prstGeom prst="ellipse">
            <a:avLst/>
          </a:prstGeom>
          <a:solidFill>
            <a:srgbClr val="EBE2CC"/>
          </a:solidFill>
          <a:ln w="25400">
            <a:solidFill>
              <a:srgbClr val="A8402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2801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A84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10.21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1488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분리 · 첫 버전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514600"/>
            <a:ext cx="1508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B4F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경성야록에서 떼어 내 저장소를 따로 만들고, 메인 시안 10여 개를 실험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31136" y="1719072"/>
            <a:ext cx="237744" cy="237744"/>
          </a:xfrm>
          <a:prstGeom prst="ellipse">
            <a:avLst/>
          </a:prstGeom>
          <a:solidFill>
            <a:srgbClr val="EBE2CC"/>
          </a:solidFill>
          <a:ln w="25400">
            <a:solidFill>
              <a:srgbClr val="A8402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121408" y="12801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A84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10.22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121408" y="21488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캐릭터 고정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121408" y="2514600"/>
            <a:ext cx="1508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B4F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장마다 달라지던 고양이를 캐릭터 시트 한 장으로 고정, 표지 확정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895344" y="1719072"/>
            <a:ext cx="237744" cy="237744"/>
          </a:xfrm>
          <a:prstGeom prst="ellipse">
            <a:avLst/>
          </a:prstGeom>
          <a:solidFill>
            <a:srgbClr val="A8402C"/>
          </a:solidFill>
          <a:ln w="25400">
            <a:solidFill>
              <a:srgbClr val="A8402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785616" y="12801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A84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10.24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785616" y="21488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다시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785616" y="2514600"/>
            <a:ext cx="1508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B4F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선생님 피드백 반영. 세 개의 축과 ㄱ자 산책길로 구조를 새로 짬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559552" y="1719072"/>
            <a:ext cx="237744" cy="237744"/>
          </a:xfrm>
          <a:prstGeom prst="ellipse">
            <a:avLst/>
          </a:prstGeom>
          <a:solidFill>
            <a:srgbClr val="EBE2CC"/>
          </a:solidFill>
          <a:ln w="25400">
            <a:solidFill>
              <a:srgbClr val="A8402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49824" y="12801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A84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10.25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49824" y="21488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그림체 통일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449824" y="2514600"/>
            <a:ext cx="1508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B4F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칭찬받은 1930년대 신문 만화풍으로 사이트 전체 그림을 맞춤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223760" y="1719072"/>
            <a:ext cx="237744" cy="237744"/>
          </a:xfrm>
          <a:prstGeom prst="ellipse">
            <a:avLst/>
          </a:prstGeom>
          <a:solidFill>
            <a:srgbClr val="EBE2CC"/>
          </a:solidFill>
          <a:ln w="25400">
            <a:solidFill>
              <a:srgbClr val="A8402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114032" y="12801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A84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10.26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114032" y="21488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마무리 · 연결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114032" y="2514600"/>
            <a:ext cx="1508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B4F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밤 모드 · 폰 가독성 · 한자→한글, 경성야록 광고면에서 바로 이어짐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06908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E3D8BF"/>
          </a:solidFill>
          <a:ln w="12700">
            <a:solidFill>
              <a:srgbClr val="E3D8B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0080" y="40690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번에 정해진 기획은 아니었습니다. 시안을 만들어 보고, 보고 싶은 경성이 안 보이면 버리고 다시 짰습니다.</a:t>
            </a:r>
            <a:endParaRPr lang="en-US" sz="11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7B6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2" hasCustomPrompt="1"/>
          </p:nvPr>
        </p:nvSpPr>
        <p:spPr>
          <a:xfrm>
            <a:off x="45720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A84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 기획 배경  ·  시안</a:t>
            </a:r>
            <a:endParaRPr lang="en-US" sz="900" dirty="0"/>
          </a:p>
        </p:txBody>
      </p:sp>
      <p:sp>
        <p:nvSpPr>
          <p:cNvPr id="3" name="Text 1"/>
          <p:cNvSpPr>
            <a:spLocks noGrp="1"/>
          </p:cNvSpPr>
          <p:nvPr>
            <p:ph type="title" idx="103" hasCustomPrompt="1"/>
          </p:nvPr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11C17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만들어 보고 고른 길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2606040" cy="1143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237744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버전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2587752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4F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수채풍 표지 · 장소 카드</a:t>
            </a:r>
            <a:endParaRPr lang="en-US" sz="10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6120" y="1188720"/>
            <a:ext cx="2606040" cy="11430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3246120" y="237744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심묘시티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3246120" y="2587752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4F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배치를 본뜬 미니어처 경성</a:t>
            </a:r>
            <a:endParaRPr lang="en-US" sz="10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1188720"/>
            <a:ext cx="2606040" cy="11430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6035040" y="237744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두루마리 종로</a:t>
            </a:r>
            <a:endParaRPr lang="en-US" sz="1100" dirty="0"/>
          </a:p>
        </p:txBody>
      </p:sp>
      <p:sp>
        <p:nvSpPr>
          <p:cNvPr id="12" name="Text 7"/>
          <p:cNvSpPr txBox="1"/>
          <p:nvPr/>
        </p:nvSpPr>
        <p:spPr>
          <a:xfrm>
            <a:off x="6035040" y="2587752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4F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가로로 이어지는 하루 산책</a:t>
            </a:r>
            <a:endParaRPr lang="en-US" sz="10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2926080"/>
            <a:ext cx="2606040" cy="114300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457200" y="411480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눈 속으로</a:t>
            </a:r>
            <a:endParaRPr lang="en-US" sz="1100" dirty="0"/>
          </a:p>
        </p:txBody>
      </p:sp>
      <p:sp>
        <p:nvSpPr>
          <p:cNvPr id="15" name="Text 9"/>
          <p:cNvSpPr txBox="1"/>
          <p:nvPr/>
        </p:nvSpPr>
        <p:spPr>
          <a:xfrm>
            <a:off x="457200" y="4325112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4F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 싶은 경성이 안 보여서 접음</a:t>
            </a:r>
            <a:endParaRPr lang="en-US" sz="10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46120" y="2926080"/>
            <a:ext cx="2606040" cy="1143000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3246120" y="411480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편집국 수사 보드</a:t>
            </a:r>
            <a:endParaRPr lang="en-US" sz="1100" dirty="0"/>
          </a:p>
        </p:txBody>
      </p:sp>
      <p:sp>
        <p:nvSpPr>
          <p:cNvPr id="18" name="Text 11"/>
          <p:cNvSpPr txBox="1"/>
          <p:nvPr/>
        </p:nvSpPr>
        <p:spPr>
          <a:xfrm>
            <a:off x="3246120" y="4325112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4F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수사일지 같고 산책 분위기가 없음</a:t>
            </a:r>
            <a:endParaRPr lang="en-US" sz="10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35040" y="2926080"/>
            <a:ext cx="2606040" cy="114300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6035040" y="2926080"/>
            <a:ext cx="2606040" cy="1143000"/>
          </a:xfrm>
          <a:prstGeom prst="rect">
            <a:avLst/>
          </a:prstGeom>
          <a:ln w="31750">
            <a:solidFill>
              <a:srgbClr val="A8402C"/>
            </a:solidFill>
            <a:prstDash val="solid"/>
          </a:ln>
        </p:spPr>
      </p:sp>
      <p:sp>
        <p:nvSpPr>
          <p:cNvPr id="21" name="Text 13"/>
          <p:cNvSpPr txBox="1"/>
          <p:nvPr/>
        </p:nvSpPr>
        <p:spPr>
          <a:xfrm>
            <a:off x="6035040" y="411480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A84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ㄱ자 산책길 (확정)</a:t>
            </a:r>
            <a:endParaRPr lang="en-US" sz="1100" dirty="0"/>
          </a:p>
        </p:txBody>
      </p:sp>
      <p:sp>
        <p:nvSpPr>
          <p:cNvPr id="22" name="Text 14"/>
          <p:cNvSpPr txBox="1"/>
          <p:nvPr/>
        </p:nvSpPr>
        <p:spPr>
          <a:xfrm>
            <a:off x="6035040" y="4325112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4F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가로로 걷다 모퉁이에서 아래로 꺾는 길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7B6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2" hasCustomPrompt="1"/>
          </p:nvPr>
        </p:nvSpPr>
        <p:spPr>
          <a:xfrm>
            <a:off x="45720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A84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콘텐츠 구조</a:t>
            </a:r>
            <a:endParaRPr lang="en-US" sz="900" dirty="0"/>
          </a:p>
        </p:txBody>
      </p:sp>
      <p:sp>
        <p:nvSpPr>
          <p:cNvPr id="3" name="Text 1"/>
          <p:cNvSpPr>
            <a:spLocks noGrp="1"/>
          </p:cNvSpPr>
          <p:nvPr>
            <p:ph type="title" idx="103" hasCustomPrompt="1"/>
          </p:nvPr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11C17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심묘 한 마리에서 여덟 갈래로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11880" y="2194560"/>
            <a:ext cx="1920240" cy="1280160"/>
          </a:xfrm>
          <a:prstGeom prst="ellipse">
            <a:avLst/>
          </a:prstGeom>
          <a:solidFill>
            <a:srgbClr val="211C17"/>
          </a:solidFill>
          <a:ln w="12700">
            <a:solidFill>
              <a:srgbClr val="211C1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657600" y="24231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6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심묘 한 마리</a:t>
            </a:r>
            <a:endParaRPr lang="en-US" sz="13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6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+ 1930년대 경성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F6F0E1"/>
          </a:solidFill>
          <a:ln w="12700">
            <a:solidFill>
              <a:srgbClr val="F6F0E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325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오프닝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60020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4F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식자실 · 호외 수배서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11880" y="123444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A8402C"/>
          </a:solidFill>
          <a:ln w="12700">
            <a:solidFill>
              <a:srgbClr val="A8402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749040" y="1325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ㄱ자 산책길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749040" y="160020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6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장소 8곳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766560" y="123444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F6F0E1"/>
          </a:solidFill>
          <a:ln w="12700">
            <a:solidFill>
              <a:srgbClr val="F6F0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03720" y="1325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골목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903720" y="160020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4F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사람들의 눈 · 심묘의 눈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766560" y="251460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F6F0E1"/>
          </a:solidFill>
          <a:ln w="12700">
            <a:solidFill>
              <a:srgbClr val="F6F0E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903720" y="2606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곁골목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903720" y="288036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4F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장소 14곳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766560" y="379476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F6F0E1"/>
          </a:solidFill>
          <a:ln w="12700">
            <a:solidFill>
              <a:srgbClr val="F6F0E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903720" y="3886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신문 연재만화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903720" y="416052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4F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제1~11회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11880" y="379476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F6F0E1"/>
          </a:solidFill>
          <a:ln w="12700">
            <a:solidFill>
              <a:srgbClr val="F6F0E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749040" y="3886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30초 놀이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3749040" y="416052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4F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8가지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79476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F6F0E1"/>
          </a:solidFill>
          <a:ln w="12700">
            <a:solidFill>
              <a:srgbClr val="F6F0E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94360" y="3886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숨은 심묘 · 공유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94360" y="416052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4F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엽서 · 그림 저장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251460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F6F0E1"/>
          </a:solidFill>
          <a:ln w="12700">
            <a:solidFill>
              <a:srgbClr val="F6F0E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94360" y="2606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자정 엔딩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594360" y="288036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4F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편집국 → 아침</a:t>
            </a:r>
            <a:endParaRPr lang="en-US" sz="10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7B6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2" hasCustomPrompt="1"/>
          </p:nvPr>
        </p:nvSpPr>
        <p:spPr>
          <a:xfrm>
            <a:off x="45720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A84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콘텐츠 구조</a:t>
            </a:r>
            <a:endParaRPr lang="en-US" sz="900" dirty="0"/>
          </a:p>
        </p:txBody>
      </p:sp>
      <p:sp>
        <p:nvSpPr>
          <p:cNvPr id="3" name="Text 1"/>
          <p:cNvSpPr>
            <a:spLocks noGrp="1"/>
          </p:cNvSpPr>
          <p:nvPr>
            <p:ph type="title" idx="103" hasCustomPrompt="1"/>
          </p:nvPr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11C17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한 번의 산책, 네 장면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34440"/>
            <a:ext cx="1874520" cy="1600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2971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A84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9718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오프닝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38328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B4F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식자실에서 「ㄱ」을 물고 달아난 고양이, 호외 수배서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2331720" y="178308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A84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0" y="1234440"/>
            <a:ext cx="1874520" cy="16002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560320" y="2971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A84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3017520" y="29718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ㄱ자 산책길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2560320" y="338328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B4F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종로에서 한강까지, 심묘를 따라 걷는 한 줄 길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4434840" y="178308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A84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1234440"/>
            <a:ext cx="1874520" cy="16002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663440" y="2971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A84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5120640" y="29718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골목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4663440" y="338328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B4F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장소마다 들어가 사람들의 눈 · 심묘의 눈으로 보기</a:t>
            </a:r>
            <a:endParaRPr lang="en-US" sz="1100" dirty="0"/>
          </a:p>
        </p:txBody>
      </p:sp>
      <p:sp>
        <p:nvSpPr>
          <p:cNvPr id="18" name="Text 13"/>
          <p:cNvSpPr txBox="1"/>
          <p:nvPr/>
        </p:nvSpPr>
        <p:spPr>
          <a:xfrm>
            <a:off x="6537960" y="178308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A84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6560" y="1234440"/>
            <a:ext cx="1874520" cy="160020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766560" y="2971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A84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600" dirty="0"/>
          </a:p>
        </p:txBody>
      </p:sp>
      <p:sp>
        <p:nvSpPr>
          <p:cNvPr id="21" name="Text 15"/>
          <p:cNvSpPr txBox="1"/>
          <p:nvPr/>
        </p:nvSpPr>
        <p:spPr>
          <a:xfrm>
            <a:off x="7223760" y="29718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자정 엔딩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6766560" y="338328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B4F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편집국으로 돌아온 ㄱ, 빈칸 없는 아침 신문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7B6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45720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D99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주요 화면  ·  오프닝</a:t>
            </a:r>
            <a:endParaRPr lang="en-US" sz="9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6F0E1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「ㄱ」 하나가 사라진 밤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34440"/>
            <a:ext cx="2606040" cy="2194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3611880"/>
            <a:ext cx="310896" cy="310896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611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35661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BE2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한글 공부 부록을 찍던 해, 경성야록 식자실</a:t>
            </a:r>
            <a:endParaRPr lang="en-US" sz="11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6120" y="1234440"/>
            <a:ext cx="2606040" cy="219456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246120" y="3611880"/>
            <a:ext cx="310896" cy="310896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3246120" y="3611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3657600" y="35661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BE2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자모표에 들어갈 「ㄱ」 하나를 물고 고양이가 사라짐</a:t>
            </a:r>
            <a:endParaRPr lang="en-US" sz="11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1234440"/>
            <a:ext cx="2606040" cy="219456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6035040" y="3611880"/>
            <a:ext cx="310896" cy="310896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6035040" y="3611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0"/>
          <p:cNvSpPr txBox="1"/>
          <p:nvPr/>
        </p:nvSpPr>
        <p:spPr>
          <a:xfrm>
            <a:off x="6446520" y="35661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BE2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호외 「□양이를 찾습니다」 — ㄱ 자리는 모두 빈칸</a:t>
            </a:r>
            <a:endParaRPr lang="en-US" sz="1100" dirty="0"/>
          </a:p>
        </p:txBody>
      </p:sp>
      <p:sp>
        <p:nvSpPr>
          <p:cNvPr id="16" name="Text 11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7B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사이트 곳곳의 글에서 「ㄱ」이 빠진 자리는 빈칸으로 남습니다. 연재만화에서는 빈칸을 붉은 글자로 채워 읽을 수도 있습니다.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7B6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2" hasCustomPrompt="1"/>
          </p:nvPr>
        </p:nvSpPr>
        <p:spPr>
          <a:xfrm>
            <a:off x="45720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A84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주요 화면  ·  메인</a:t>
            </a:r>
            <a:endParaRPr lang="en-US" sz="900" dirty="0"/>
          </a:p>
        </p:txBody>
      </p:sp>
      <p:sp>
        <p:nvSpPr>
          <p:cNvPr id="3" name="Text 1"/>
          <p:cNvSpPr>
            <a:spLocks noGrp="1"/>
          </p:cNvSpPr>
          <p:nvPr>
            <p:ph type="title" idx="103" hasCustomPrompt="1"/>
          </p:nvPr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11C17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ㄱ자 산책길 — 메인 화면이 곧 지도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435608"/>
            <a:ext cx="3291840" cy="64008"/>
          </a:xfrm>
          <a:prstGeom prst="rect">
            <a:avLst/>
          </a:prstGeom>
          <a:solidFill>
            <a:srgbClr val="211C17"/>
          </a:solidFill>
          <a:ln w="12700">
            <a:solidFill>
              <a:srgbClr val="211C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76472" y="1435608"/>
            <a:ext cx="64008" cy="2057400"/>
          </a:xfrm>
          <a:prstGeom prst="rect">
            <a:avLst/>
          </a:prstGeom>
          <a:solidFill>
            <a:srgbClr val="211C17"/>
          </a:solidFill>
          <a:ln w="12700">
            <a:solidFill>
              <a:srgbClr val="211C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362456"/>
            <a:ext cx="201168" cy="201168"/>
          </a:xfrm>
          <a:prstGeom prst="ellipse">
            <a:avLst/>
          </a:prstGeom>
          <a:solidFill>
            <a:srgbClr val="A8402C"/>
          </a:solidFill>
          <a:ln w="19050">
            <a:solidFill>
              <a:srgbClr val="EBE2C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5760" y="1618488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종로 전차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389888" y="1362456"/>
            <a:ext cx="201168" cy="201168"/>
          </a:xfrm>
          <a:prstGeom prst="ellipse">
            <a:avLst/>
          </a:prstGeom>
          <a:solidFill>
            <a:srgbClr val="A8402C"/>
          </a:solidFill>
          <a:ln w="19050">
            <a:solidFill>
              <a:srgbClr val="EBE2C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88720" y="1618488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음반가게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12848" y="1362456"/>
            <a:ext cx="201168" cy="201168"/>
          </a:xfrm>
          <a:prstGeom prst="ellipse">
            <a:avLst/>
          </a:prstGeom>
          <a:solidFill>
            <a:srgbClr val="A8402C"/>
          </a:solidFill>
          <a:ln w="19050">
            <a:solidFill>
              <a:srgbClr val="EBE2C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011680" y="1618488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종로 야시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035808" y="1362456"/>
            <a:ext cx="201168" cy="201168"/>
          </a:xfrm>
          <a:prstGeom prst="ellipse">
            <a:avLst/>
          </a:prstGeom>
          <a:solidFill>
            <a:srgbClr val="A8402C"/>
          </a:solidFill>
          <a:ln w="19050">
            <a:solidFill>
              <a:srgbClr val="EBE2C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834640" y="1618488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단성사 앞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3931920" y="134416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A84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모퉁이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707892" y="1965960"/>
            <a:ext cx="201168" cy="201168"/>
          </a:xfrm>
          <a:prstGeom prst="ellipse">
            <a:avLst/>
          </a:prstGeom>
          <a:solidFill>
            <a:srgbClr val="2F5D57"/>
          </a:solidFill>
          <a:ln w="19050">
            <a:solidFill>
              <a:srgbClr val="EBE2C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331720" y="194767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청계천 빨래터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707892" y="2423160"/>
            <a:ext cx="201168" cy="201168"/>
          </a:xfrm>
          <a:prstGeom prst="ellipse">
            <a:avLst/>
          </a:prstGeom>
          <a:solidFill>
            <a:srgbClr val="2F5D57"/>
          </a:solidFill>
          <a:ln w="19050">
            <a:solidFill>
              <a:srgbClr val="EBE2C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331720" y="240487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설렁탕집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707892" y="2880360"/>
            <a:ext cx="201168" cy="201168"/>
          </a:xfrm>
          <a:prstGeom prst="ellipse">
            <a:avLst/>
          </a:prstGeom>
          <a:solidFill>
            <a:srgbClr val="2F5D57"/>
          </a:solidFill>
          <a:ln w="19050">
            <a:solidFill>
              <a:srgbClr val="EBE2C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331720" y="286207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다방 창가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707892" y="3337560"/>
            <a:ext cx="201168" cy="201168"/>
          </a:xfrm>
          <a:prstGeom prst="ellipse">
            <a:avLst/>
          </a:prstGeom>
          <a:solidFill>
            <a:srgbClr val="2F5D57"/>
          </a:solidFill>
          <a:ln w="19050">
            <a:solidFill>
              <a:srgbClr val="EBE2C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331720" y="331927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한강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365760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B4F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가로로 걷다 모퉁이에서 아래로 꺾이는 한 줄 길. 길 모양 자체가 심묘가 물고 간 「ㄱ」입니다.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500" dirty="0">
                <a:solidFill>
                  <a:srgbClr val="5B4F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B4F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방향키 · 휠 · 터치로 걸으면 심묘가 장소마다 멈춰 몸짓을 하고, 곁골목 14곳으로 빠지는 발도장이 길가에 있습니다.</a:t>
            </a:r>
            <a:endParaRPr lang="en-US" sz="1000" dirty="0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234440"/>
            <a:ext cx="4114800" cy="1554480"/>
          </a:xfrm>
          <a:prstGeom prst="rect">
            <a:avLst/>
          </a:prstGeom>
        </p:spPr>
      </p:pic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880360"/>
            <a:ext cx="4114800" cy="1554480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4572000" y="455371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4F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 · 가로 거리(종로)   아래 · 세로 길 끝(한강)</a:t>
            </a:r>
            <a:endParaRPr lang="en-US" sz="10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7B6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2" hasCustomPrompt="1"/>
          </p:nvPr>
        </p:nvSpPr>
        <p:spPr>
          <a:xfrm>
            <a:off x="45720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A84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주요 화면  ·  골목</a:t>
            </a:r>
            <a:endParaRPr lang="en-US" sz="900" dirty="0"/>
          </a:p>
        </p:txBody>
      </p:sp>
      <p:sp>
        <p:nvSpPr>
          <p:cNvPr id="3" name="Text 1"/>
          <p:cNvSpPr>
            <a:spLocks noGrp="1"/>
          </p:cNvSpPr>
          <p:nvPr>
            <p:ph type="title" idx="103" hasCustomPrompt="1"/>
          </p:nvPr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11C17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같은 자리, 두 개의 눈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34440"/>
            <a:ext cx="3977640" cy="233172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1234440"/>
            <a:ext cx="3977640" cy="23317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367588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사람들의 눈 · 실제 자료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3977640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B4F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옛 사진 · 지면은 흑백 그대로 두고, 그 안에 컬러 심묘만 합성했습니다. 「사람의 기록은 흑백」.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4709160" y="367588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A84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심묘의 눈 · 재현 그림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4709160" y="3977640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B4F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고양이 눈높이와 색감, 습성에 맞춘 구도. 그림 속 반짝이는 자리를 누르면 실제 사실과 심묘의 한마디가 나옵니다.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7B6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2" hasCustomPrompt="1"/>
          </p:nvPr>
        </p:nvSpPr>
        <p:spPr>
          <a:xfrm>
            <a:off x="45720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A84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주요 화면  ·  곁골목</a:t>
            </a:r>
            <a:endParaRPr lang="en-US" sz="900" dirty="0"/>
          </a:p>
        </p:txBody>
      </p:sp>
      <p:sp>
        <p:nvSpPr>
          <p:cNvPr id="3" name="Text 1"/>
          <p:cNvSpPr>
            <a:spLocks noGrp="1"/>
          </p:cNvSpPr>
          <p:nvPr>
            <p:ph type="title" idx="103" hasCustomPrompt="1"/>
          </p:nvPr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11C17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길가 발도장 너머, 곁골목 14곳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1920240" cy="12344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246888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조선박람회</a:t>
            </a:r>
            <a:endParaRPr lang="en-US" sz="10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0" y="1188720"/>
            <a:ext cx="1920240" cy="12344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560320" y="246888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화신백화점</a:t>
            </a:r>
            <a:endParaRPr lang="en-US" sz="10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1188720"/>
            <a:ext cx="1920240" cy="123444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4663440" y="246888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경성방송국</a:t>
            </a:r>
            <a:endParaRPr lang="en-US" sz="10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6560" y="1188720"/>
            <a:ext cx="1920240" cy="1234440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6766560" y="246888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빙수집</a:t>
            </a:r>
            <a:endParaRPr lang="en-US" sz="10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2788920"/>
            <a:ext cx="1920240" cy="1234440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457200" y="406908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창경원 밤 벚꽃</a:t>
            </a:r>
            <a:endParaRPr lang="en-US" sz="1000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60320" y="2788920"/>
            <a:ext cx="1920240" cy="1234440"/>
          </a:xfrm>
          <a:prstGeom prst="rect">
            <a:avLst/>
          </a:prstGeom>
        </p:spPr>
      </p:pic>
      <p:sp>
        <p:nvSpPr>
          <p:cNvPr id="15" name="Text 7"/>
          <p:cNvSpPr txBox="1"/>
          <p:nvPr/>
        </p:nvSpPr>
        <p:spPr>
          <a:xfrm>
            <a:off x="2560320" y="406908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경성운동장</a:t>
            </a:r>
            <a:endParaRPr lang="en-US" sz="1000" dirty="0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63440" y="2788920"/>
            <a:ext cx="1920240" cy="1234440"/>
          </a:xfrm>
          <a:prstGeom prst="rect">
            <a:avLst/>
          </a:prstGeom>
        </p:spPr>
      </p:pic>
      <p:sp>
        <p:nvSpPr>
          <p:cNvPr id="17" name="Text 8"/>
          <p:cNvSpPr txBox="1"/>
          <p:nvPr/>
        </p:nvSpPr>
        <p:spPr>
          <a:xfrm>
            <a:off x="4663440" y="406908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경성역</a:t>
            </a:r>
            <a:endParaRPr lang="en-US" sz="1000" dirty="0"/>
          </a:p>
        </p:txBody>
      </p:sp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66560" y="2788920"/>
            <a:ext cx="1920240" cy="1234440"/>
          </a:xfrm>
          <a:prstGeom prst="rect">
            <a:avLst/>
          </a:prstGeom>
        </p:spPr>
      </p:pic>
      <p:sp>
        <p:nvSpPr>
          <p:cNvPr id="19" name="Text 9"/>
          <p:cNvSpPr txBox="1"/>
          <p:nvPr/>
        </p:nvSpPr>
        <p:spPr>
          <a:xfrm>
            <a:off x="6766560" y="406908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남대문시장</a:t>
            </a:r>
            <a:endParaRPr lang="en-US" sz="1000" dirty="0"/>
          </a:p>
        </p:txBody>
      </p:sp>
      <p:sp>
        <p:nvSpPr>
          <p:cNvPr id="20" name="Text 10"/>
          <p:cNvSpPr txBox="1"/>
          <p:nvPr/>
        </p:nvSpPr>
        <p:spPr>
          <a:xfrm>
            <a:off x="457200" y="43891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4F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밖에 사진관 · 이발소 · 한남서림 · 본정 · 경성우편국 · 미쓰코시. 곳마다 심묘가 6~8가지 몸짓을 하고, 확인된 사실과 출처가 붙습니다.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7B6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2" hasCustomPrompt="1"/>
          </p:nvPr>
        </p:nvSpPr>
        <p:spPr>
          <a:xfrm>
            <a:off x="45720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A84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주요 화면  ·  연재 · 놀이</a:t>
            </a:r>
            <a:endParaRPr lang="en-US" sz="900" dirty="0"/>
          </a:p>
        </p:txBody>
      </p:sp>
      <p:sp>
        <p:nvSpPr>
          <p:cNvPr id="3" name="Text 1"/>
          <p:cNvSpPr>
            <a:spLocks noGrp="1"/>
          </p:cNvSpPr>
          <p:nvPr>
            <p:ph type="title" idx="103" hasCustomPrompt="1"/>
          </p:nvPr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11C17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신문 연재만화와 30초 놀이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34440"/>
            <a:ext cx="3977640" cy="233172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1234440"/>
            <a:ext cx="3977640" cy="23317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367588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연재만화 「심묘」 제1~11회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3977640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B4F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1930년대 신문 연재 형식(제호 · 회차 · 네 칸 · 다음 회에 계속). 산책길 8곳이 회차로 이어집니다.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4709160" y="367588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곳마다 30초 놀이 8가지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4709160" y="3977640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B4F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지붕 손님 · 나팔 속 노래 · 군밤 한 톨 · 맨 앞자리 · 방망이 장단 · 뚝배기 쌓기 · …툭. · 얼음 구멍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7B6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45720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D99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주요 화면  ·  엔딩</a:t>
            </a:r>
            <a:endParaRPr lang="en-US" sz="9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6F0E1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자정, 심묘가 편집국으로 돌아오다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34440"/>
            <a:ext cx="2606040" cy="2194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3611880"/>
            <a:ext cx="310896" cy="310896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611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35661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BE2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자정. 불 켜진 편집국 앞</a:t>
            </a:r>
            <a:endParaRPr lang="en-US" sz="11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6120" y="1234440"/>
            <a:ext cx="2606040" cy="219456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246120" y="3611880"/>
            <a:ext cx="310896" cy="310896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3246120" y="3611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3657600" y="35661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BE2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편집장 책상 위, 자모표에 「ㄱ」이 돌아옴</a:t>
            </a:r>
            <a:endParaRPr lang="en-US" sz="11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1234440"/>
            <a:ext cx="2606040" cy="219456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6035040" y="3611880"/>
            <a:ext cx="310896" cy="310896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6035040" y="3611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0"/>
          <p:cNvSpPr txBox="1"/>
          <p:nvPr/>
        </p:nvSpPr>
        <p:spPr>
          <a:xfrm>
            <a:off x="6446520" y="35661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BE2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날 아침, 한글 공부 부록은 빈칸 없이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7B6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45720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D99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 지킨 원칙</a:t>
            </a:r>
            <a:endParaRPr lang="en-US" sz="9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6F0E1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귀여워도, 경성은 정확하게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2B241D"/>
          </a:solidFill>
          <a:ln w="12700">
            <a:solidFill>
              <a:srgbClr val="2B241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D99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508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6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재현은 재현이라고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93852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3B3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그림은 모두 「재현 그림」 표시. 심묘와 말풍선은 지어낸 이야기로 구분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28016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2B241D"/>
          </a:solidFill>
          <a:ln w="12700">
            <a:solidFill>
              <a:srgbClr val="2B241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92040" y="15087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D99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486400" y="1508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6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확인된 기록만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0" y="193852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3B3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장소 · 연도 · 값은 출처가 있는 사실만. 곳마다 출처를 달고, 못 찾은 것은 쓰지 않음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88036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2B241D"/>
          </a:solidFill>
          <a:ln w="12700">
            <a:solidFill>
              <a:srgbClr val="2B241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31089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D99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1089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6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오직 1930년대 조선의 경성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353872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3B3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일본 · 중국 · 서양풍 복식과 거리는 버림. 그림 속 가짜 글자는 흐리게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288036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2B241D"/>
          </a:solidFill>
          <a:ln w="12700">
            <a:solidFill>
              <a:srgbClr val="2B241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92040" y="31089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D99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0" y="31089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6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편안한 감각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0" y="353872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3B3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깜빡임 · 섬광 · 웅웅거리는 소리 없음. 「움직임 줄이기」 설정 존중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7B6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2" hasCustomPrompt="1"/>
          </p:nvPr>
        </p:nvSpPr>
        <p:spPr>
          <a:xfrm>
            <a:off x="45720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A84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 그림 제작</a:t>
            </a:r>
            <a:endParaRPr lang="en-US" sz="900" dirty="0"/>
          </a:p>
        </p:txBody>
      </p:sp>
      <p:sp>
        <p:nvSpPr>
          <p:cNvPr id="3" name="Text 1"/>
          <p:cNvSpPr>
            <a:spLocks noGrp="1"/>
          </p:cNvSpPr>
          <p:nvPr>
            <p:ph type="title" idx="103" hasCustomPrompt="1"/>
          </p:nvPr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11C17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같은 고양이가 모든 장면에 나오기까지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10896" cy="310896"/>
          </a:xfrm>
          <a:prstGeom prst="ellipse">
            <a:avLst/>
          </a:prstGeom>
          <a:solidFill>
            <a:srgbClr val="A8402C"/>
          </a:solidFill>
          <a:ln w="12700">
            <a:solidFill>
              <a:srgbClr val="A8402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80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12344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캐릭터 시트로 고정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154533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4F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생성은 장마다 고양이가 달라짐 → 캐릭터 시트 한 장을 기준으로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310896" cy="310896"/>
          </a:xfrm>
          <a:prstGeom prst="ellipse">
            <a:avLst/>
          </a:prstGeom>
          <a:solidFill>
            <a:srgbClr val="A8402C"/>
          </a:solidFill>
          <a:ln w="12700">
            <a:solidFill>
              <a:srgbClr val="A8402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103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96112" y="20574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배경 + 동작 컷 합성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96112" y="236829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4F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미드저니로 장소 배경, ChatGPT로 심묘 동작 컷을 뽑아 합성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310896" cy="310896"/>
          </a:xfrm>
          <a:prstGeom prst="ellipse">
            <a:avLst/>
          </a:prstGeom>
          <a:solidFill>
            <a:srgbClr val="A8402C"/>
          </a:solidFill>
          <a:ln w="12700">
            <a:solidFill>
              <a:srgbClr val="A8402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926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96112" y="28803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사람은 실제 옛 사진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96112" y="319125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4F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복식 고증이 자꾸 일본 · 중국풍으로 나와, 사람 장면은 실제 자료로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49040"/>
            <a:ext cx="310896" cy="310896"/>
          </a:xfrm>
          <a:prstGeom prst="ellipse">
            <a:avLst/>
          </a:prstGeom>
          <a:solidFill>
            <a:srgbClr val="A8402C"/>
          </a:solidFill>
          <a:ln w="12700">
            <a:solidFill>
              <a:srgbClr val="A8402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749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96112" y="37033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신문 만화풍으로 통일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96112" y="401421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4F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굵은 먹선 · 바랜 납작한 색 · 누런 지면 질감으로 전체를 맞춤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937760" y="1234440"/>
            <a:ext cx="3749040" cy="3291840"/>
          </a:xfrm>
          <a:prstGeom prst="roundRect">
            <a:avLst>
              <a:gd name="adj" fmla="val 2222"/>
            </a:avLst>
          </a:prstGeom>
          <a:solidFill>
            <a:srgbClr val="F6F0E1"/>
          </a:solidFill>
          <a:ln w="12700">
            <a:solidFill>
              <a:srgbClr val="F6F0E1"/>
            </a:solidFill>
            <a:prstDash val="solid"/>
          </a:ln>
        </p:spPr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678" y="1417320"/>
            <a:ext cx="731763" cy="777240"/>
          </a:xfrm>
          <a:prstGeom prst="rect">
            <a:avLst/>
          </a:prstGeom>
        </p:spPr>
      </p:pic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43" y="1417320"/>
            <a:ext cx="821473" cy="777240"/>
          </a:xfrm>
          <a:prstGeom prst="rect">
            <a:avLst/>
          </a:prstGeom>
        </p:spPr>
      </p:pic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4161" y="1417320"/>
            <a:ext cx="733678" cy="777240"/>
          </a:xfrm>
          <a:prstGeom prst="rect">
            <a:avLst/>
          </a:prstGeom>
        </p:spPr>
      </p:pic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19608" y="2331720"/>
            <a:ext cx="1007905" cy="777240"/>
          </a:xfrm>
          <a:prstGeom prst="rect">
            <a:avLst/>
          </a:prstGeom>
        </p:spPr>
      </p:pic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2401275"/>
            <a:ext cx="1051560" cy="707685"/>
          </a:xfrm>
          <a:prstGeom prst="rect">
            <a:avLst/>
          </a:prstGeom>
        </p:spPr>
      </p:pic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82154" y="2331720"/>
            <a:ext cx="837692" cy="777240"/>
          </a:xfrm>
          <a:prstGeom prst="rect">
            <a:avLst/>
          </a:prstGeom>
        </p:spPr>
      </p:pic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65318" y="3246120"/>
            <a:ext cx="916485" cy="777240"/>
          </a:xfrm>
          <a:prstGeom prst="rect">
            <a:avLst/>
          </a:prstGeom>
        </p:spPr>
      </p:pic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21536" y="3246120"/>
            <a:ext cx="781487" cy="777240"/>
          </a:xfrm>
          <a:prstGeom prst="rect">
            <a:avLst/>
          </a:prstGeom>
        </p:spPr>
      </p:pic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75220" y="3302421"/>
            <a:ext cx="1051560" cy="720939"/>
          </a:xfrm>
          <a:prstGeom prst="rect">
            <a:avLst/>
          </a:prstGeom>
        </p:spPr>
      </p:pic>
      <p:sp>
        <p:nvSpPr>
          <p:cNvPr id="30" name="Text 19"/>
          <p:cNvSpPr txBox="1"/>
          <p:nvPr/>
        </p:nvSpPr>
        <p:spPr>
          <a:xfrm>
            <a:off x="5074920" y="4160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4F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심묘 동작 컷 350여 장 · 같은 배율과 기준점으로 맞춤</a:t>
            </a:r>
            <a:endParaRPr lang="en-US" sz="10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7B6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2" hasCustomPrompt="1"/>
          </p:nvPr>
        </p:nvSpPr>
        <p:spPr>
          <a:xfrm>
            <a:off x="45720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A84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 기술과 구현</a:t>
            </a:r>
            <a:endParaRPr lang="en-US" sz="900" dirty="0"/>
          </a:p>
        </p:txBody>
      </p:sp>
      <p:sp>
        <p:nvSpPr>
          <p:cNvPr id="3" name="Text 1"/>
          <p:cNvSpPr>
            <a:spLocks noGrp="1"/>
          </p:cNvSpPr>
          <p:nvPr>
            <p:ph type="title" idx="103" hasCustomPrompt="1"/>
          </p:nvPr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11C17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들어간 프로그램과 기술</a:t>
            </a:r>
            <a:endParaRPr lang="en-US" sz="24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6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분야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1C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6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쓴 것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1C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6F0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어디에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1C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11C1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· 움직임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11C1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HTML · CSS · JavaScript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11C1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산책길 카메라 · 심묘 걸음 · 골목 · 연재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11C1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11C1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 Audio API · 음원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11C1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장면별 배경음악 4곡 · 효과음 24개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11C1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그림 생성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11C1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Midjourney · ChatGPT 이미지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11C1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장소 배경 · 심묘 동작 컷 (재현 표기)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11C1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그림 합성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11C1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Python (Pillow)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11C1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누끼 · 테두리 정리 · 거리 그림 이어 붙이기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11C1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11C1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공유 카드 미리 만들기 (og 이미지)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11C1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카카오톡 · 인스타그램 · X · 스레드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11C1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 · 점검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11C1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Claude Code · Playwright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11C1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 보조 · PC / 폰 화면 자동 점검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11C1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11C1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GitHub · GitHub Pages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11C1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사이트 공개 · 경성야록과 연결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11C1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11C1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옛 신문 · 국가기록원 · 서울역사박물관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11C1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장소 · 연도 · 출처 확인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B3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7B6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2" hasCustomPrompt="1"/>
          </p:nvPr>
        </p:nvSpPr>
        <p:spPr>
          <a:xfrm>
            <a:off x="45720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A84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 기술과 구현  ·  문제 해결</a:t>
            </a:r>
            <a:endParaRPr lang="en-US" sz="900" dirty="0"/>
          </a:p>
        </p:txBody>
      </p:sp>
      <p:sp>
        <p:nvSpPr>
          <p:cNvPr id="3" name="Text 1"/>
          <p:cNvSpPr>
            <a:spLocks noGrp="1"/>
          </p:cNvSpPr>
          <p:nvPr>
            <p:ph type="title" idx="103" hasCustomPrompt="1"/>
          </p:nvPr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11C17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부딪힌 문제와 푼 방법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383280" cy="548640"/>
          </a:xfrm>
          <a:prstGeom prst="roundRect">
            <a:avLst>
              <a:gd name="adj" fmla="val 13333"/>
            </a:avLst>
          </a:prstGeom>
          <a:solidFill>
            <a:srgbClr val="E3D8BF"/>
          </a:solidFill>
          <a:ln w="12700">
            <a:solidFill>
              <a:srgbClr val="E3D8B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18872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장면마다 고양이 크기 · 자리가 흔들림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886200" y="118872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84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297680" y="1188720"/>
            <a:ext cx="4389120" cy="548640"/>
          </a:xfrm>
          <a:prstGeom prst="roundRect">
            <a:avLst>
              <a:gd name="adj" fmla="val 13333"/>
            </a:avLst>
          </a:prstGeom>
          <a:solidFill>
            <a:srgbClr val="F6F0E1"/>
          </a:solidFill>
          <a:ln w="12700">
            <a:solidFill>
              <a:srgbClr val="F6F0E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34840" y="118872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컷을 같은 배율 · 몸 중심 기준점으로 맞추고, 튀는 애니메이션 제거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865376"/>
            <a:ext cx="3383280" cy="548640"/>
          </a:xfrm>
          <a:prstGeom prst="roundRect">
            <a:avLst>
              <a:gd name="adj" fmla="val 13333"/>
            </a:avLst>
          </a:prstGeom>
          <a:solidFill>
            <a:srgbClr val="E3D8BF"/>
          </a:solidFill>
          <a:ln w="12700">
            <a:solidFill>
              <a:srgbClr val="E3D8B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1865376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거리 그림을 이어 붙인 자국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886200" y="1865376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84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297680" y="1865376"/>
            <a:ext cx="4389120" cy="548640"/>
          </a:xfrm>
          <a:prstGeom prst="roundRect">
            <a:avLst>
              <a:gd name="adj" fmla="val 13333"/>
            </a:avLst>
          </a:prstGeom>
          <a:solidFill>
            <a:srgbClr val="F6F0E1"/>
          </a:solidFill>
          <a:ln w="12700">
            <a:solidFill>
              <a:srgbClr val="F6F0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434840" y="1865376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전봇대를 경계로 잇고, 하늘과 땅을 한 장으로 통일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542032"/>
            <a:ext cx="3383280" cy="548640"/>
          </a:xfrm>
          <a:prstGeom prst="roundRect">
            <a:avLst>
              <a:gd name="adj" fmla="val 13333"/>
            </a:avLst>
          </a:prstGeom>
          <a:solidFill>
            <a:srgbClr val="E3D8BF"/>
          </a:solidFill>
          <a:ln w="12700">
            <a:solidFill>
              <a:srgbClr val="E3D8B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360" y="254203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그림이 많아 화면이 무거움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886200" y="2542032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84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297680" y="2542032"/>
            <a:ext cx="4389120" cy="548640"/>
          </a:xfrm>
          <a:prstGeom prst="roundRect">
            <a:avLst>
              <a:gd name="adj" fmla="val 13333"/>
            </a:avLst>
          </a:prstGeom>
          <a:solidFill>
            <a:srgbClr val="F6F0E1"/>
          </a:solidFill>
          <a:ln w="12700">
            <a:solidFill>
              <a:srgbClr val="F6F0E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434840" y="254203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밖 배경은 끄고, 필요할 때만 그림을 불러옴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218688"/>
            <a:ext cx="3383280" cy="548640"/>
          </a:xfrm>
          <a:prstGeom prst="roundRect">
            <a:avLst>
              <a:gd name="adj" fmla="val 13333"/>
            </a:avLst>
          </a:prstGeom>
          <a:solidFill>
            <a:srgbClr val="E3D8BF"/>
          </a:solidFill>
          <a:ln w="12700">
            <a:solidFill>
              <a:srgbClr val="E3D8B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360" y="3218688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웅웅 · 떨림 소리가 거슬림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3886200" y="3218688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84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297680" y="3218688"/>
            <a:ext cx="4389120" cy="548640"/>
          </a:xfrm>
          <a:prstGeom prst="roundRect">
            <a:avLst>
              <a:gd name="adj" fmla="val 13333"/>
            </a:avLst>
          </a:prstGeom>
          <a:solidFill>
            <a:srgbClr val="F6F0E1"/>
          </a:solidFill>
          <a:ln w="12700">
            <a:solidFill>
              <a:srgbClr val="F6F0E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434840" y="321868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낮은 음역을 막고 짧은 야옹 · 종 소리만 남김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895344"/>
            <a:ext cx="3383280" cy="548640"/>
          </a:xfrm>
          <a:prstGeom prst="roundRect">
            <a:avLst>
              <a:gd name="adj" fmla="val 13333"/>
            </a:avLst>
          </a:prstGeom>
          <a:solidFill>
            <a:srgbClr val="E3D8BF"/>
          </a:solidFill>
          <a:ln w="12700">
            <a:solidFill>
              <a:srgbClr val="E3D8B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94360" y="3895344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공유하면 그림이 안 뜸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3886200" y="3895344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84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297680" y="3895344"/>
            <a:ext cx="4389120" cy="548640"/>
          </a:xfrm>
          <a:prstGeom prst="roundRect">
            <a:avLst>
              <a:gd name="adj" fmla="val 13333"/>
            </a:avLst>
          </a:prstGeom>
          <a:solidFill>
            <a:srgbClr val="F6F0E1"/>
          </a:solidFill>
          <a:ln w="12700">
            <a:solidFill>
              <a:srgbClr val="F6F0E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434840" y="3895344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그림마다 공유 카드 페이지를 미리 만들어 미리보기에 그림이 뜨게</a:t>
            </a:r>
            <a:endParaRPr lang="en-US" sz="11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7B6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2" hasCustomPrompt="1"/>
          </p:nvPr>
        </p:nvSpPr>
        <p:spPr>
          <a:xfrm>
            <a:off x="45720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A84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 기술과 구현  ·  모바일</a:t>
            </a:r>
            <a:endParaRPr lang="en-US" sz="900" dirty="0"/>
          </a:p>
        </p:txBody>
      </p:sp>
      <p:sp>
        <p:nvSpPr>
          <p:cNvPr id="3" name="Text 1"/>
          <p:cNvSpPr>
            <a:spLocks noGrp="1"/>
          </p:cNvSpPr>
          <p:nvPr>
            <p:ph type="title" idx="103" hasCustomPrompt="1"/>
          </p:nvPr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11C17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휴대폰에서는 신문 한 면처럼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1463040" cy="3063240"/>
          </a:xfrm>
          <a:prstGeom prst="rect">
            <a:avLst/>
          </a:prstGeom>
          <a:effectLst>
            <a:outerShdw blurRad="76200" dist="25400" dir="5400000" algn="bl" rotWithShape="0">
              <a:srgbClr val="211C17">
                <a:alpha val="25000"/>
              </a:srgbClr>
            </a:outerShdw>
          </a:effectLst>
        </p:spPr>
      </p:pic>
      <p:sp>
        <p:nvSpPr>
          <p:cNvPr id="5" name="Text 2"/>
          <p:cNvSpPr txBox="1"/>
          <p:nvPr/>
        </p:nvSpPr>
        <p:spPr>
          <a:xfrm>
            <a:off x="457200" y="43434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오프닝 호외</a:t>
            </a:r>
            <a:endParaRPr lang="en-US" sz="10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9696" y="1188720"/>
            <a:ext cx="1463040" cy="3063240"/>
          </a:xfrm>
          <a:prstGeom prst="rect">
            <a:avLst/>
          </a:prstGeom>
          <a:effectLst>
            <a:outerShdw blurRad="76200" dist="25400" dir="5400000" algn="bl" rotWithShape="0">
              <a:srgbClr val="211C17">
                <a:alpha val="25000"/>
              </a:srgbClr>
            </a:outerShdw>
          </a:effectLst>
        </p:spPr>
      </p:pic>
      <p:sp>
        <p:nvSpPr>
          <p:cNvPr id="7" name="Text 3"/>
          <p:cNvSpPr txBox="1"/>
          <p:nvPr/>
        </p:nvSpPr>
        <p:spPr>
          <a:xfrm>
            <a:off x="2139696" y="43434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산책길 · 연재 띠</a:t>
            </a:r>
            <a:endParaRPr lang="en-US" sz="10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22192" y="1188720"/>
            <a:ext cx="1463040" cy="3063240"/>
          </a:xfrm>
          <a:prstGeom prst="rect">
            <a:avLst/>
          </a:prstGeom>
          <a:effectLst>
            <a:outerShdw blurRad="76200" dist="25400" dir="5400000" algn="bl" rotWithShape="0">
              <a:srgbClr val="211C17">
                <a:alpha val="25000"/>
              </a:srgbClr>
            </a:outerShdw>
          </a:effectLst>
        </p:spPr>
      </p:pic>
      <p:sp>
        <p:nvSpPr>
          <p:cNvPr id="9" name="Text 4"/>
          <p:cNvSpPr txBox="1"/>
          <p:nvPr/>
        </p:nvSpPr>
        <p:spPr>
          <a:xfrm>
            <a:off x="3822192" y="43434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골목 · 사실 칸</a:t>
            </a:r>
            <a:endParaRPr lang="en-US" sz="10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04688" y="1188720"/>
            <a:ext cx="1463040" cy="3063240"/>
          </a:xfrm>
          <a:prstGeom prst="rect">
            <a:avLst/>
          </a:prstGeom>
          <a:effectLst>
            <a:outerShdw blurRad="76200" dist="25400" dir="5400000" algn="bl" rotWithShape="0">
              <a:srgbClr val="211C17">
                <a:alpha val="25000"/>
              </a:srgbClr>
            </a:outerShdw>
          </a:effectLst>
        </p:spPr>
      </p:pic>
      <p:sp>
        <p:nvSpPr>
          <p:cNvPr id="11" name="Text 5"/>
          <p:cNvSpPr txBox="1"/>
          <p:nvPr/>
        </p:nvSpPr>
        <p:spPr>
          <a:xfrm>
            <a:off x="5504688" y="43434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연재만화</a:t>
            </a:r>
            <a:endParaRPr lang="en-US" sz="10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87184" y="1188720"/>
            <a:ext cx="1463040" cy="3063240"/>
          </a:xfrm>
          <a:prstGeom prst="rect">
            <a:avLst/>
          </a:prstGeom>
          <a:effectLst>
            <a:outerShdw blurRad="76200" dist="25400" dir="5400000" algn="bl" rotWithShape="0">
              <a:srgbClr val="211C17">
                <a:alpha val="25000"/>
              </a:srgbClr>
            </a:outerShdw>
          </a:effectLst>
        </p:spPr>
      </p:pic>
      <p:sp>
        <p:nvSpPr>
          <p:cNvPr id="13" name="Text 6"/>
          <p:cNvSpPr txBox="1"/>
          <p:nvPr/>
        </p:nvSpPr>
        <p:spPr>
          <a:xfrm>
            <a:off x="7187184" y="43434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곁골목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7B6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2" hasCustomPrompt="1"/>
          </p:nvPr>
        </p:nvSpPr>
        <p:spPr>
          <a:xfrm>
            <a:off x="45720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A84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 피드백 반영</a:t>
            </a:r>
            <a:endParaRPr lang="en-US" sz="900" dirty="0"/>
          </a:p>
        </p:txBody>
      </p:sp>
      <p:sp>
        <p:nvSpPr>
          <p:cNvPr id="3" name="Text 1"/>
          <p:cNvSpPr>
            <a:spLocks noGrp="1"/>
          </p:cNvSpPr>
          <p:nvPr>
            <p:ph type="title" idx="103" hasCustomPrompt="1"/>
          </p:nvPr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11C17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받은 피드백과 바꾼 것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8A7B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11887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8A7B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받은 의견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212080" y="11887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8A7B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반영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481328"/>
            <a:ext cx="868680" cy="640080"/>
          </a:xfrm>
          <a:prstGeom prst="roundRect">
            <a:avLst>
              <a:gd name="adj" fmla="val 11429"/>
            </a:avLst>
          </a:prstGeom>
          <a:solidFill>
            <a:srgbClr val="A8402C"/>
          </a:solidFill>
          <a:ln w="12700">
            <a:solidFill>
              <a:srgbClr val="A8402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481328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선생님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417320" y="1481328"/>
            <a:ext cx="3429000" cy="640080"/>
          </a:xfrm>
          <a:prstGeom prst="roundRect">
            <a:avLst>
              <a:gd name="adj" fmla="val 11429"/>
            </a:avLst>
          </a:prstGeom>
          <a:solidFill>
            <a:srgbClr val="E3D8BF"/>
          </a:solidFill>
          <a:ln w="12700">
            <a:solidFill>
              <a:srgbClr val="E3D8B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554480" y="148132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「고양이가 활자를 무는 설정이 작위적. 핵심은 산책 · 경성 · 사람들 · 아름다운 이미지」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1481328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84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212080" y="1481328"/>
            <a:ext cx="3474720" cy="640080"/>
          </a:xfrm>
          <a:prstGeom prst="roundRect">
            <a:avLst>
              <a:gd name="adj" fmla="val 11429"/>
            </a:avLst>
          </a:prstGeom>
          <a:solidFill>
            <a:srgbClr val="211C17"/>
          </a:solidFill>
          <a:ln w="12700">
            <a:solidFill>
              <a:srgbClr val="211C1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349240" y="1481328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6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설정은 오프닝 · 엔딩에만 두고, 메인을 산책길과 장소 그림 중심으로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258568"/>
            <a:ext cx="868680" cy="640080"/>
          </a:xfrm>
          <a:prstGeom prst="roundRect">
            <a:avLst>
              <a:gd name="adj" fmla="val 11429"/>
            </a:avLst>
          </a:prstGeom>
          <a:solidFill>
            <a:srgbClr val="A8402C"/>
          </a:solidFill>
          <a:ln w="12700">
            <a:solidFill>
              <a:srgbClr val="A8402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2258568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선생님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417320" y="2258568"/>
            <a:ext cx="3429000" cy="640080"/>
          </a:xfrm>
          <a:prstGeom prst="roundRect">
            <a:avLst>
              <a:gd name="adj" fmla="val 11429"/>
            </a:avLst>
          </a:prstGeom>
          <a:solidFill>
            <a:srgbClr val="E3D8BF"/>
          </a:solidFill>
          <a:ln w="12700">
            <a:solidFill>
              <a:srgbClr val="E3D8B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554480" y="225856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칭찬받은 그림체 · 색감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2258568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84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212080" y="2258568"/>
            <a:ext cx="3474720" cy="640080"/>
          </a:xfrm>
          <a:prstGeom prst="roundRect">
            <a:avLst>
              <a:gd name="adj" fmla="val 11429"/>
            </a:avLst>
          </a:prstGeom>
          <a:solidFill>
            <a:srgbClr val="211C17"/>
          </a:solidFill>
          <a:ln w="12700">
            <a:solidFill>
              <a:srgbClr val="211C1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349240" y="2258568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6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사이트 전체를 그 1930년대 신문 만화풍으로 통일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035808"/>
            <a:ext cx="868680" cy="640080"/>
          </a:xfrm>
          <a:prstGeom prst="roundRect">
            <a:avLst>
              <a:gd name="adj" fmla="val 11429"/>
            </a:avLst>
          </a:prstGeom>
          <a:solidFill>
            <a:srgbClr val="2F5D57"/>
          </a:solidFill>
          <a:ln w="12700">
            <a:solidFill>
              <a:srgbClr val="2F5D5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7200" y="3035808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시연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417320" y="3035808"/>
            <a:ext cx="3429000" cy="640080"/>
          </a:xfrm>
          <a:prstGeom prst="roundRect">
            <a:avLst>
              <a:gd name="adj" fmla="val 11429"/>
            </a:avLst>
          </a:prstGeom>
          <a:solidFill>
            <a:srgbClr val="E3D8BF"/>
          </a:solidFill>
          <a:ln w="12700">
            <a:solidFill>
              <a:srgbClr val="E3D8B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554480" y="303580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폰에서 화면 잘림 · 말풍선 위치 · 읽기 어려움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4846320" y="3035808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84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212080" y="3035808"/>
            <a:ext cx="3474720" cy="640080"/>
          </a:xfrm>
          <a:prstGeom prst="roundRect">
            <a:avLst>
              <a:gd name="adj" fmla="val 11429"/>
            </a:avLst>
          </a:prstGeom>
          <a:solidFill>
            <a:srgbClr val="211C17"/>
          </a:solidFill>
          <a:ln w="12700">
            <a:solidFill>
              <a:srgbClr val="211C1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349240" y="3035808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6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폰 전용 배치, 글씨 키움, 밤 모드(저녁 7시~아침 6시)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813048"/>
            <a:ext cx="868680" cy="640080"/>
          </a:xfrm>
          <a:prstGeom prst="roundRect">
            <a:avLst>
              <a:gd name="adj" fmla="val 11429"/>
            </a:avLst>
          </a:prstGeom>
          <a:solidFill>
            <a:srgbClr val="2F5D57"/>
          </a:solidFill>
          <a:ln w="12700">
            <a:solidFill>
              <a:srgbClr val="2F5D57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57200" y="3813048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시연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417320" y="3813048"/>
            <a:ext cx="3429000" cy="640080"/>
          </a:xfrm>
          <a:prstGeom prst="roundRect">
            <a:avLst>
              <a:gd name="adj" fmla="val 11429"/>
            </a:avLst>
          </a:prstGeom>
          <a:solidFill>
            <a:srgbClr val="E3D8BF"/>
          </a:solidFill>
          <a:ln w="12700">
            <a:solidFill>
              <a:srgbClr val="E3D8B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554480" y="381304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이어 보기 어려움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4846320" y="3813048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84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212080" y="3813048"/>
            <a:ext cx="3474720" cy="640080"/>
          </a:xfrm>
          <a:prstGeom prst="roundRect">
            <a:avLst>
              <a:gd name="adj" fmla="val 11429"/>
            </a:avLst>
          </a:prstGeom>
          <a:solidFill>
            <a:srgbClr val="211C17"/>
          </a:solidFill>
          <a:ln w="12700">
            <a:solidFill>
              <a:srgbClr val="211C17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349240" y="3813048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6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경성야록 광고면 수배 고양이 → 심묘한 산책으로 바로 연결</a:t>
            </a:r>
            <a:endParaRPr lang="en-US" sz="10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7B6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2" hasCustomPrompt="1"/>
          </p:nvPr>
        </p:nvSpPr>
        <p:spPr>
          <a:xfrm>
            <a:off x="45720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A84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 결과</a:t>
            </a:r>
            <a:endParaRPr lang="en-US" sz="900" dirty="0"/>
          </a:p>
        </p:txBody>
      </p:sp>
      <p:sp>
        <p:nvSpPr>
          <p:cNvPr id="3" name="Text 1"/>
          <p:cNvSpPr>
            <a:spLocks noGrp="1"/>
          </p:cNvSpPr>
          <p:nvPr>
            <p:ph type="title" idx="103" hasCustomPrompt="1"/>
          </p:nvPr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11C17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숫자로 보는 심묘한 산책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508760" cy="1554480"/>
          </a:xfrm>
          <a:prstGeom prst="roundRect">
            <a:avLst>
              <a:gd name="adj" fmla="val 4848"/>
            </a:avLst>
          </a:prstGeom>
          <a:solidFill>
            <a:srgbClr val="F6F0E1"/>
          </a:solidFill>
          <a:ln w="12700">
            <a:solidFill>
              <a:srgbClr val="F6F0E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41732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A8402C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8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28600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산책길 장소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39696" y="1280160"/>
            <a:ext cx="1508760" cy="1554480"/>
          </a:xfrm>
          <a:prstGeom prst="roundRect">
            <a:avLst>
              <a:gd name="adj" fmla="val 4848"/>
            </a:avLst>
          </a:prstGeom>
          <a:solidFill>
            <a:srgbClr val="F6F0E1"/>
          </a:solidFill>
          <a:ln w="12700">
            <a:solidFill>
              <a:srgbClr val="F6F0E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139696" y="141732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A8402C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14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2139696" y="228600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곁골목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822192" y="1280160"/>
            <a:ext cx="1508760" cy="1554480"/>
          </a:xfrm>
          <a:prstGeom prst="roundRect">
            <a:avLst>
              <a:gd name="adj" fmla="val 4848"/>
            </a:avLst>
          </a:prstGeom>
          <a:solidFill>
            <a:srgbClr val="F6F0E1"/>
          </a:solidFill>
          <a:ln w="12700">
            <a:solidFill>
              <a:srgbClr val="F6F0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822192" y="141732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A8402C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11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3822192" y="228600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연재만화 회차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504688" y="1280160"/>
            <a:ext cx="1508760" cy="1554480"/>
          </a:xfrm>
          <a:prstGeom prst="roundRect">
            <a:avLst>
              <a:gd name="adj" fmla="val 4848"/>
            </a:avLst>
          </a:prstGeom>
          <a:solidFill>
            <a:srgbClr val="F6F0E1"/>
          </a:solidFill>
          <a:ln w="12700">
            <a:solidFill>
              <a:srgbClr val="F6F0E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504688" y="141732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A8402C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8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5504688" y="228600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30초 놀이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187184" y="1280160"/>
            <a:ext cx="1508760" cy="1554480"/>
          </a:xfrm>
          <a:prstGeom prst="roundRect">
            <a:avLst>
              <a:gd name="adj" fmla="val 4848"/>
            </a:avLst>
          </a:prstGeom>
          <a:solidFill>
            <a:srgbClr val="211C17"/>
          </a:solidFill>
          <a:ln w="12700">
            <a:solidFill>
              <a:srgbClr val="211C1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87184" y="141732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D99A2B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350+</a:t>
            </a:r>
            <a:endParaRPr lang="en-US" sz="4000" dirty="0"/>
          </a:p>
        </p:txBody>
      </p:sp>
      <p:sp>
        <p:nvSpPr>
          <p:cNvPr id="18" name="Text 16"/>
          <p:cNvSpPr txBox="1"/>
          <p:nvPr/>
        </p:nvSpPr>
        <p:spPr>
          <a:xfrm>
            <a:off x="7187184" y="228600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6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심묘 동작 컷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15468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PC와 휴대폰 모두 지원 · 밤에는 등잔불 아래 신문처럼 어두워지는 밤 모드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경성야록 광고면의 수배 고양이를 누르면 심묘한 산책 오프닝으로 바로 이어짐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심묘 그림을 저장하고 카카오톡 · 인스타그램 · X · 스레드로 공유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7B6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45720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D99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 앞으로</a:t>
            </a:r>
            <a:endParaRPr lang="en-US" sz="9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6F0E1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다음 산책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307592"/>
            <a:ext cx="310896" cy="310896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3075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1280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6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목격 그림 더하기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160934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3B3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사람들이 본 심묘 장면을 곳마다 한 장씩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084832"/>
            <a:ext cx="310896" cy="310896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0848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20574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6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계절 산책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38658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3B3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길을 봄 · 여름 · 가을 · 겨울로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862072"/>
            <a:ext cx="310896" cy="310896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862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1C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28346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6F0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엽서 · 스티커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316382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3B3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연재만화 칸과 수배 사진을 굿즈로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65760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D99A2B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글을 모르는 고양이의 눈으로,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D99A2B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사람들이 걷던 경성을 다시 걷습니다.</a:t>
            </a:r>
            <a:endParaRPr lang="en-US" sz="150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188720"/>
            <a:ext cx="3840480" cy="3291840"/>
          </a:xfrm>
          <a:prstGeom prst="rect">
            <a:avLst/>
          </a:prstGeom>
        </p:spPr>
      </p:pic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3429000"/>
            <a:ext cx="860898" cy="91440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4846320" y="452628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C3B3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1인 프로젝트  ·  기획 · 아트 디렉션 · 디자인 · 개발  김소이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7B6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myo Walk">
  <a:themeElements>
    <a:clrScheme name="Simmyo Walk">
      <a:dk1>
        <a:srgbClr val="211C17"/>
      </a:dk1>
      <a:lt1>
        <a:srgbClr val="F6F0E1"/>
      </a:lt1>
      <a:dk2>
        <a:srgbClr val="2F5D57"/>
      </a:dk2>
      <a:lt2>
        <a:srgbClr val="EBE2CC"/>
      </a:lt2>
      <a:accent1>
        <a:srgbClr val="A8402C"/>
      </a:accent1>
      <a:accent2>
        <a:srgbClr val="D99A2B"/>
      </a:accent2>
      <a:accent3>
        <a:srgbClr val="2F5D57"/>
      </a:accent3>
      <a:accent4>
        <a:srgbClr val="5B4F42"/>
      </a:accent4>
      <a:accent5>
        <a:srgbClr val="8A7B66"/>
      </a:accent5>
      <a:accent6>
        <a:srgbClr val="C3B394"/>
      </a:accent6>
      <a:hlink>
        <a:srgbClr val="A8402C"/>
      </a:hlink>
      <a:folHlink>
        <a:srgbClr val="5B4F42"/>
      </a:folHlink>
    </a:clrScheme>
    <a:fontScheme name="Simmyo Walk">
      <a:majorFont>
        <a:latin typeface="Batang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1653</Words>
  <Application>Microsoft Office PowerPoint</Application>
  <PresentationFormat>화면 슬라이드 쇼(16:9)</PresentationFormat>
  <Paragraphs>362</Paragraphs>
  <Slides>23</Slides>
  <Notes>23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28" baseType="lpstr">
      <vt:lpstr>Malgun Gothic</vt:lpstr>
      <vt:lpstr>Malgun Gothic</vt:lpstr>
      <vt:lpstr>Batang</vt:lpstr>
      <vt:lpstr>Arial</vt:lpstr>
      <vt:lpstr>Simmyo Walk</vt:lpstr>
      <vt:lpstr>PowerPoint 프레젠테이션</vt:lpstr>
      <vt:lpstr>목차</vt:lpstr>
      <vt:lpstr>시작은 광고면 구석의 고양이 한 마리</vt:lpstr>
      <vt:lpstr>왜 고양이의 눈높이인가</vt:lpstr>
      <vt:lpstr>심묘 한 마리로 세 가지를 보여 주기</vt:lpstr>
      <vt:lpstr>엿새 동안 기획을 세 번 다시 썼습니다</vt:lpstr>
      <vt:lpstr>만들어 보고 고른 길</vt:lpstr>
      <vt:lpstr>심묘 한 마리에서 여덟 갈래로</vt:lpstr>
      <vt:lpstr>한 번의 산책, 네 장면</vt:lpstr>
      <vt:lpstr>「ㄱ」 하나가 사라진 밤</vt:lpstr>
      <vt:lpstr>ㄱ자 산책길 — 메인 화면이 곧 지도</vt:lpstr>
      <vt:lpstr>같은 자리, 두 개의 눈</vt:lpstr>
      <vt:lpstr>길가 발도장 너머, 곁골목 14곳</vt:lpstr>
      <vt:lpstr>신문 연재만화와 30초 놀이</vt:lpstr>
      <vt:lpstr>자정, 심묘가 편집국으로 돌아오다</vt:lpstr>
      <vt:lpstr>귀여워도, 경성은 정확하게</vt:lpstr>
      <vt:lpstr>같은 고양이가 모든 장면에 나오기까지</vt:lpstr>
      <vt:lpstr>들어간 프로그램과 기술</vt:lpstr>
      <vt:lpstr>부딪힌 문제와 푼 방법</vt:lpstr>
      <vt:lpstr>휴대폰에서는 신문 한 면처럼</vt:lpstr>
      <vt:lpstr>받은 피드백과 바꾼 것</vt:lpstr>
      <vt:lpstr>숫자로 보는 심묘한 산책</vt:lpstr>
      <vt:lpstr>다음 산책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심묘한 산책</dc:title>
  <dc:subject>PptxGenJS Presentation</dc:subject>
  <dc:creator>김소이</dc:creator>
  <cp:lastModifiedBy>504-13</cp:lastModifiedBy>
  <cp:revision>2</cp:revision>
  <dcterms:created xsi:type="dcterms:W3CDTF">2026-10-26T03:57:45Z</dcterms:created>
  <dcterms:modified xsi:type="dcterms:W3CDTF">2026-10-26T04:13:39Z</dcterms:modified>
</cp:coreProperties>
</file>